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499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8074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Namaste! Our project is CTPB Bank — a complete banking transaction web application. Everything you will see runs on a real PostgreSQL database called CTPBD. Customers can validate accounts, check balances and transfer money between savings and current accounts, while admins run the whole book from a command centre. We built it with the full computational-thinking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with the problem: moving money online is easy to demo and hard to do safely. Our five objectives map one-to-one onto the problem statement we were given. Keep this slide short — the judges want to see that we understood the assignment: validate, check balance, transfer, both account types, two logins.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the rubric cares most about. Walk the chevrons left to right: decompose the banking domain, abstract accounts and transfers, recognise patterns like double-entry ledgers and idempotent retries, then choose algorithms, then the OOP design, then prove it with tests. One sentence to remember: 'The account owns its rules, so transfers never need if-else on account type.'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pipeline top to bottom: the browser talks to Flask routes, routes call services, services call repositories, repositories talk to PostgreSQL. Emphasise the layering rule — it is what made the code testable and it is the standard answer to 'What architecture did you use?'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tables, that is all — but the constraints do the heavy lifting. Point out: one savings + one current per customer (matches the problem statement), the unique idempotency key (why a repeated click can never double-debit), and the double-entry columns that give us a full audit trail without a second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Bridge to the live demo. Left side is the gold customer portal, right side is the teal admin console. Invite the judges to follow along: the demo accounts are on the chips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asked 'which algorithmic patterns did you use?', read the table: divide-and-conquer (merge sort, binary search), greedy (note breakdown, with the canonical-coin optimality argument), sliding window (fraud velocity + rate limiter). The killer detail: the transactions page literally prints the measured microseconds of our own 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technical heart of the project — say it slowly. Row locking in a fixed order avoids deadlocks; the single transaction gives atomicity; the idempotency key gives retry safety. If asked about the GIL: our workload waits on the database, so threads genuinely help; CPU-heavy work would move to multiprocessing — that distinction is the expected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Judges respect numbers: 72 tests, 85% coverage, zero lint and zero type errors. Then explain the one test that matters most: the Hypothesis property test — instead of testing examples, we state a law of banking (money is conserved) and let the machine try hundreds of ways to break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the six demo steps exactly as numbered — each step exists to prove one engineering claim from the previous slides. Close with the takeaway line, then invite questions. Likely viva questions: why merge sort over quicksort, how idempotency works, what the GIL means here, and how the fraud rules fire.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ash-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508760"/>
            <a:ext cx="4480560" cy="250077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417320"/>
            <a:ext cx="4572000" cy="3639312"/>
          </a:xfrm>
          <a:prstGeom prst="round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sh-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490472"/>
            <a:ext cx="4425696" cy="24701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051560"/>
            <a:ext cx="6400800" cy="251351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F0B429"/>
                </a:solidFill>
                <a:latin typeface="Calibri"/>
              </a:rPr>
              <a:t>COMPUTATIONAL THINKING &amp; PROGRAMMING —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766560" cy="1066959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1" dirty="0">
                <a:solidFill>
                  <a:srgbClr val="FFFFFF"/>
                </a:solidFill>
                <a:latin typeface="Calibri"/>
              </a:rPr>
              <a:t>CTP</a:t>
            </a:r>
            <a:r>
              <a:rPr lang="en-IN" sz="6600" b="1" dirty="0">
                <a:solidFill>
                  <a:srgbClr val="FFFFFF"/>
                </a:solidFill>
                <a:latin typeface="Calibri"/>
              </a:rPr>
              <a:t>B</a:t>
            </a:r>
            <a:r>
              <a:rPr sz="6600" b="1" dirty="0">
                <a:solidFill>
                  <a:srgbClr val="FFFFFF"/>
                </a:solidFill>
                <a:latin typeface="Calibri"/>
              </a:rPr>
              <a:t>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880360"/>
            <a:ext cx="6583680" cy="9144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0B429"/>
                </a:solidFill>
                <a:latin typeface="Calibri"/>
              </a:rPr>
              <a:t>A full-stack Banking Transaction System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9AA3BC"/>
                </a:solidFill>
                <a:latin typeface="Calibri"/>
              </a:rPr>
              <a:t>secure · atomic · idempotent · beautifully explained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4160520"/>
            <a:ext cx="6583680" cy="1554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9EDF7"/>
                </a:solidFill>
                <a:latin typeface="Calibri"/>
              </a:rPr>
              <a:t>Validate Account  ·  Check Balance  ·  Transfer Money  ·  Savings &amp; Current Accounts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9AA3BC"/>
                </a:solidFill>
                <a:latin typeface="Calibri"/>
              </a:rPr>
              <a:t>Two portals: </a:t>
            </a:r>
            <a:r>
              <a:rPr sz="1500" b="1">
                <a:solidFill>
                  <a:srgbClr val="F0B429"/>
                </a:solidFill>
                <a:latin typeface="Calibri"/>
              </a:rPr>
              <a:t>Customer</a:t>
            </a:r>
            <a:r>
              <a:rPr sz="1500" b="0">
                <a:solidFill>
                  <a:srgbClr val="9AA3BC"/>
                </a:solidFill>
                <a:latin typeface="Calibri"/>
              </a:rPr>
              <a:t>  &amp;  </a:t>
            </a:r>
            <a:r>
              <a:rPr sz="1500" b="1">
                <a:solidFill>
                  <a:srgbClr val="2DD4BF"/>
                </a:solidFill>
                <a:latin typeface="Calibri"/>
              </a:rPr>
              <a:t>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5257800"/>
            <a:ext cx="1554480" cy="384048"/>
          </a:xfrm>
          <a:prstGeom prst="roundRect">
            <a:avLst/>
          </a:prstGeom>
          <a:solidFill>
            <a:srgbClr val="10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Python 3.12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5257800"/>
            <a:ext cx="1325880" cy="384048"/>
          </a:xfrm>
          <a:prstGeom prst="roundRect">
            <a:avLst/>
          </a:prstGeom>
          <a:solidFill>
            <a:srgbClr val="10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9EDF7"/>
                </a:solidFill>
                <a:latin typeface="Calibri"/>
              </a:rPr>
              <a:t>Flask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9896" y="5257800"/>
            <a:ext cx="2286000" cy="384048"/>
          </a:xfrm>
          <a:prstGeom prst="roundRect">
            <a:avLst/>
          </a:prstGeom>
          <a:solidFill>
            <a:srgbClr val="10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PostgreSQL · CTPBD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5257800"/>
            <a:ext cx="1965960" cy="384048"/>
          </a:xfrm>
          <a:prstGeom prst="roundRect">
            <a:avLst/>
          </a:prstGeom>
          <a:solidFill>
            <a:srgbClr val="10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72 tests · 85% cov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972800" cy="23596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9AA3BC"/>
                </a:solidFill>
                <a:latin typeface="Calibri"/>
              </a:rPr>
              <a:t>Presented by: </a:t>
            </a:r>
            <a:r>
              <a:rPr lang="en-IN" sz="1200" dirty="0">
                <a:solidFill>
                  <a:srgbClr val="9AA3BC"/>
                </a:solidFill>
                <a:latin typeface="Calibri"/>
              </a:rPr>
              <a:t>MAJJI SAI ROSHAN</a:t>
            </a:r>
            <a:r>
              <a:rPr sz="1200" b="0" dirty="0">
                <a:solidFill>
                  <a:srgbClr val="9AA3BC"/>
                </a:solidFill>
                <a:latin typeface="Calibri"/>
              </a:rPr>
              <a:t>   ·   </a:t>
            </a:r>
            <a:r>
              <a:rPr lang="en-IN" sz="1200" dirty="0">
                <a:solidFill>
                  <a:srgbClr val="9AA3BC"/>
                </a:solidFill>
                <a:latin typeface="Calibri"/>
              </a:rPr>
              <a:t>ID</a:t>
            </a:r>
            <a:r>
              <a:rPr sz="1200" b="0" dirty="0">
                <a:solidFill>
                  <a:srgbClr val="9AA3BC"/>
                </a:solidFill>
                <a:latin typeface="Calibri"/>
              </a:rPr>
              <a:t> No: </a:t>
            </a:r>
            <a:r>
              <a:rPr lang="en-IN" sz="1200" dirty="0">
                <a:solidFill>
                  <a:srgbClr val="9AA3BC"/>
                </a:solidFill>
                <a:latin typeface="Calibri"/>
              </a:rPr>
              <a:t>2601150053</a:t>
            </a:r>
            <a:r>
              <a:rPr sz="1200" b="0" dirty="0">
                <a:solidFill>
                  <a:srgbClr val="9AA3BC"/>
                </a:solidFill>
                <a:latin typeface="Calibri"/>
              </a:rPr>
              <a:t>   ·   Guide: </a:t>
            </a:r>
            <a:r>
              <a:rPr lang="en-IN" sz="1200" b="0" dirty="0">
                <a:solidFill>
                  <a:srgbClr val="9AA3BC"/>
                </a:solidFill>
                <a:latin typeface="Calibri"/>
              </a:rPr>
              <a:t>Dr. G. Syam Prasad</a:t>
            </a:r>
            <a:endParaRPr sz="1200" b="0" dirty="0">
              <a:solidFill>
                <a:srgbClr val="9AA3B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01 ·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9EDF7"/>
                </a:solidFill>
                <a:latin typeface="Calibri"/>
              </a:rPr>
              <a:t>A bank that never loses a rupee — even on a bad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C"/>
                </a:solidFill>
                <a:latin typeface="Calibri"/>
              </a:rPr>
              <a:t>CTPB Bank — Computational Thinking &amp; Programming   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F0B429"/>
                </a:solidFill>
                <a:latin typeface="Calibri"/>
              </a:rPr>
              <a:t>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6035040" cy="4206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F0B429"/>
                </a:solidFill>
                <a:latin typeface="Calibri"/>
              </a:rPr>
              <a:t>▸  Real-world need.  </a:t>
            </a:r>
            <a:r>
              <a:rPr sz="1500" b="0">
                <a:solidFill>
                  <a:srgbClr val="E9EDF7"/>
                </a:solidFill>
                <a:latin typeface="Calibri"/>
              </a:rPr>
              <a:t>Customers must safely check balances, validate a payee and move money online — staff must watch the whole book.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F0B429"/>
                </a:solidFill>
                <a:latin typeface="Calibri"/>
              </a:rPr>
              <a:t>▸  The hard part is trust.  </a:t>
            </a:r>
            <a:r>
              <a:rPr sz="1500" b="0">
                <a:solidFill>
                  <a:srgbClr val="E9EDF7"/>
                </a:solidFill>
                <a:latin typeface="Calibri"/>
              </a:rPr>
              <a:t>A transfer must never be half-done, never be applied twice, and suspicious activity must be caught.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F0B429"/>
                </a:solidFill>
                <a:latin typeface="Calibri"/>
              </a:rPr>
              <a:t>▸  Two kinds of money.  </a:t>
            </a:r>
            <a:r>
              <a:rPr sz="1500" b="0">
                <a:solidFill>
                  <a:srgbClr val="E9EDF7"/>
                </a:solidFill>
                <a:latin typeface="Calibri"/>
              </a:rPr>
              <a:t>Savings (min ₹1,000, earns 4% p.a.) and Current (₹50,000 overdraft) follow different rules.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F0B429"/>
                </a:solidFill>
                <a:latin typeface="Calibri"/>
              </a:rPr>
              <a:t>▸  Two kinds of users.  </a:t>
            </a:r>
            <a:r>
              <a:rPr sz="1500" b="0">
                <a:solidFill>
                  <a:srgbClr val="E9EDF7"/>
                </a:solidFill>
                <a:latin typeface="Calibri"/>
              </a:rPr>
              <a:t>Separate, rate-limited login portals for customers and administrators.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554480"/>
            <a:ext cx="4754880" cy="416052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8040" y="1737360"/>
            <a:ext cx="429768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0B429"/>
                </a:solidFill>
                <a:latin typeface="Calibri"/>
              </a:rPr>
              <a:t>OBJECTIVES — what we set out to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240280"/>
            <a:ext cx="4297680" cy="32918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F0B429"/>
                </a:solidFill>
                <a:latin typeface="Calibri"/>
              </a:rPr>
              <a:t>▸  </a:t>
            </a:r>
            <a:r>
              <a:rPr sz="1350" b="0">
                <a:solidFill>
                  <a:srgbClr val="E9EDF7"/>
                </a:solidFill>
                <a:latin typeface="Calibri"/>
              </a:rPr>
              <a:t>Validate Account before sending money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F0B429"/>
                </a:solidFill>
                <a:latin typeface="Calibri"/>
              </a:rPr>
              <a:t>▸  </a:t>
            </a:r>
            <a:r>
              <a:rPr sz="1350" b="0">
                <a:solidFill>
                  <a:srgbClr val="E9EDF7"/>
                </a:solidFill>
                <a:latin typeface="Calibri"/>
              </a:rPr>
              <a:t>Live Check-Balance dashboard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F0B429"/>
                </a:solidFill>
                <a:latin typeface="Calibri"/>
              </a:rPr>
              <a:t>▸  </a:t>
            </a:r>
            <a:r>
              <a:rPr sz="1350" b="0">
                <a:solidFill>
                  <a:srgbClr val="E9EDF7"/>
                </a:solidFill>
                <a:latin typeface="Calibri"/>
              </a:rPr>
              <a:t>Atomic, idempotent Transfer Money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F0B429"/>
                </a:solidFill>
                <a:latin typeface="Calibri"/>
              </a:rPr>
              <a:t>▸  </a:t>
            </a:r>
            <a:r>
              <a:rPr sz="1350" b="0">
                <a:solidFill>
                  <a:srgbClr val="E9EDF7"/>
                </a:solidFill>
                <a:latin typeface="Calibri"/>
              </a:rPr>
              <a:t>Maintain both Savings &amp; Current accounts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F0B429"/>
                </a:solidFill>
                <a:latin typeface="Calibri"/>
              </a:rPr>
              <a:t>▸  </a:t>
            </a:r>
            <a:r>
              <a:rPr sz="1350" b="0">
                <a:solidFill>
                  <a:srgbClr val="E9EDF7"/>
                </a:solidFill>
                <a:latin typeface="Calibri"/>
              </a:rPr>
              <a:t>Customer + Admin login portals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F0B429"/>
                </a:solidFill>
                <a:latin typeface="Calibri"/>
              </a:rPr>
              <a:t>▸  </a:t>
            </a:r>
            <a:r>
              <a:rPr sz="1350" b="0">
                <a:solidFill>
                  <a:srgbClr val="E9EDF7"/>
                </a:solidFill>
                <a:latin typeface="Calibri"/>
              </a:rPr>
              <a:t>Fraud flags, audit ledger, testing &amp; 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02 ·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9EDF7"/>
                </a:solidFill>
                <a:latin typeface="Calibri"/>
              </a:rPr>
              <a:t>Computational thinking,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C"/>
                </a:solidFill>
                <a:latin typeface="Calibri"/>
              </a:rPr>
              <a:t>CTPB Bank — Computational Thinking &amp; Programming   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F0B429"/>
                </a:solidFill>
                <a:latin typeface="Calibri"/>
              </a:rPr>
              <a:t>3 / 10</a:t>
            </a:r>
          </a:p>
        </p:txBody>
      </p:sp>
      <p:sp>
        <p:nvSpPr>
          <p:cNvPr id="8" name="Chevron 7"/>
          <p:cNvSpPr/>
          <p:nvPr/>
        </p:nvSpPr>
        <p:spPr>
          <a:xfrm>
            <a:off x="502920" y="1691640"/>
            <a:ext cx="2148840" cy="1371600"/>
          </a:xfrm>
          <a:prstGeom prst="chevron">
            <a:avLst>
              <a:gd name="adj" fmla="val 28000"/>
            </a:avLst>
          </a:prstGeom>
          <a:solidFill>
            <a:srgbClr val="142044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0B429"/>
                </a:solidFill>
                <a:latin typeface="Calibri"/>
              </a:rPr>
              <a:t>1. DECOMPOSE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2148840" cy="1371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AA3BC"/>
                </a:solidFill>
                <a:latin typeface="Calibri"/>
              </a:rPr>
              <a:t>auth · accounts · transfer · ledger · fraud · admin</a:t>
            </a:r>
          </a:p>
        </p:txBody>
      </p:sp>
      <p:sp>
        <p:nvSpPr>
          <p:cNvPr id="10" name="Chevron 9"/>
          <p:cNvSpPr/>
          <p:nvPr/>
        </p:nvSpPr>
        <p:spPr>
          <a:xfrm>
            <a:off x="2441448" y="1691640"/>
            <a:ext cx="2148840" cy="1371600"/>
          </a:xfrm>
          <a:prstGeom prst="chevron">
            <a:avLst>
              <a:gd name="adj" fmla="val 28000"/>
            </a:avLst>
          </a:prstGeom>
          <a:solidFill>
            <a:srgbClr val="101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2. 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3200400"/>
            <a:ext cx="2148840" cy="1371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AA3BC"/>
                </a:solidFill>
                <a:latin typeface="Calibri"/>
              </a:rPr>
              <a:t>Account = rules; Transfer = pure plan + one transaction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4379976" y="1691640"/>
            <a:ext cx="2148840" cy="1371600"/>
          </a:xfrm>
          <a:prstGeom prst="chevron">
            <a:avLst>
              <a:gd name="adj" fmla="val 28000"/>
            </a:avLst>
          </a:prstGeom>
          <a:solidFill>
            <a:srgbClr val="142044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0B429"/>
                </a:solidFill>
                <a:latin typeface="Calibri"/>
              </a:rPr>
              <a:t>3.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6" y="3200400"/>
            <a:ext cx="2148840" cy="1371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AA3BC"/>
                </a:solidFill>
                <a:latin typeface="Calibri"/>
              </a:rPr>
              <a:t>double-entry ledger · idempotent retry · sliding window</a:t>
            </a:r>
          </a:p>
        </p:txBody>
      </p:sp>
      <p:sp>
        <p:nvSpPr>
          <p:cNvPr id="14" name="Chevron 13"/>
          <p:cNvSpPr/>
          <p:nvPr/>
        </p:nvSpPr>
        <p:spPr>
          <a:xfrm>
            <a:off x="6318504" y="1691640"/>
            <a:ext cx="2148840" cy="1371600"/>
          </a:xfrm>
          <a:prstGeom prst="chevron">
            <a:avLst>
              <a:gd name="adj" fmla="val 28000"/>
            </a:avLst>
          </a:prstGeom>
          <a:solidFill>
            <a:srgbClr val="101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4. ALGORITHMS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3200400"/>
            <a:ext cx="2148840" cy="1371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AA3BC"/>
                </a:solidFill>
                <a:latin typeface="Calibri"/>
              </a:rPr>
              <a:t>merge sort · binary search · greedy · top-K</a:t>
            </a:r>
          </a:p>
        </p:txBody>
      </p:sp>
      <p:sp>
        <p:nvSpPr>
          <p:cNvPr id="16" name="Chevron 15"/>
          <p:cNvSpPr/>
          <p:nvPr/>
        </p:nvSpPr>
        <p:spPr>
          <a:xfrm>
            <a:off x="8257032" y="1691640"/>
            <a:ext cx="2148840" cy="1371600"/>
          </a:xfrm>
          <a:prstGeom prst="chevron">
            <a:avLst>
              <a:gd name="adj" fmla="val 28000"/>
            </a:avLst>
          </a:prstGeom>
          <a:solidFill>
            <a:srgbClr val="142044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0B429"/>
                </a:solidFill>
                <a:latin typeface="Calibri"/>
              </a:rPr>
              <a:t>5. DESIGN (OOP)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3200400"/>
            <a:ext cx="2148840" cy="1371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AA3BC"/>
                </a:solidFill>
                <a:latin typeface="Calibri"/>
              </a:rPr>
              <a:t>Account ABC → Savings | Current (polymorphism)</a:t>
            </a:r>
          </a:p>
        </p:txBody>
      </p:sp>
      <p:sp>
        <p:nvSpPr>
          <p:cNvPr id="18" name="Chevron 17"/>
          <p:cNvSpPr/>
          <p:nvPr/>
        </p:nvSpPr>
        <p:spPr>
          <a:xfrm>
            <a:off x="10195560" y="1691640"/>
            <a:ext cx="2148840" cy="1371600"/>
          </a:xfrm>
          <a:prstGeom prst="chevron">
            <a:avLst>
              <a:gd name="adj" fmla="val 28000"/>
            </a:avLst>
          </a:prstGeom>
          <a:solidFill>
            <a:srgbClr val="101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6. TEST &amp; 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200400"/>
            <a:ext cx="2148840" cy="1371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AA3BC"/>
                </a:solidFill>
                <a:latin typeface="Calibri"/>
              </a:rPr>
              <a:t>unit + property-based + live-DB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11155680" cy="1645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 Key abstraction:  </a:t>
            </a:r>
            <a:r>
              <a:rPr sz="1400" b="0">
                <a:solidFill>
                  <a:srgbClr val="E9EDF7"/>
                </a:solidFill>
                <a:latin typeface="Calibri"/>
              </a:rPr>
              <a:t>the Account knows its own rules — savings cannot drop below ₹1,000, current can dip to −₹50,000 — so a transfer works polymorphically with ANY account pair.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 Key pattern:  </a:t>
            </a:r>
            <a:r>
              <a:rPr sz="1400" b="0">
                <a:solidFill>
                  <a:srgbClr val="E9EDF7"/>
                </a:solidFill>
                <a:latin typeface="Calibri"/>
              </a:rPr>
              <a:t>every money movement is a double-entry ledger row (sender balance after, receiver balance after) written in ONE database transaction.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03 ·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9EDF7"/>
                </a:solidFill>
                <a:latin typeface="Calibri"/>
              </a:rPr>
              <a:t>Clean layers — each with exactly one job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C"/>
                </a:solidFill>
                <a:latin typeface="Calibri"/>
              </a:rPr>
              <a:t>CTPB Bank — Computational Thinking &amp; Programming   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F0B429"/>
                </a:solidFill>
                <a:latin typeface="Calibri"/>
              </a:rPr>
              <a:t>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554480"/>
            <a:ext cx="4846320" cy="786384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83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39DFF"/>
                </a:solidFill>
                <a:latin typeface="Calibri"/>
              </a:rPr>
              <a:t>Browser UI</a:t>
            </a:r>
            <a:r>
              <a:rPr sz="1050" b="0">
                <a:solidFill>
                  <a:srgbClr val="9AA3BC"/>
                </a:solidFill>
                <a:latin typeface="Calibri"/>
              </a:rPr>
              <a:t>   Jinja templates · dark fintech CSS · vanilla JS wizard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267712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542032"/>
            <a:ext cx="4846320" cy="786384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83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39DFF"/>
                </a:solidFill>
                <a:latin typeface="Calibri"/>
              </a:rPr>
              <a:t>Flask routes (4 blueprints)</a:t>
            </a:r>
            <a:r>
              <a:rPr sz="1050" b="0">
                <a:solidFill>
                  <a:srgbClr val="9AA3BC"/>
                </a:solidFill>
                <a:latin typeface="Calibri"/>
              </a:rPr>
              <a:t>   auth · user · admin · api  — sessions + role guards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255264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529584"/>
            <a:ext cx="4846320" cy="786384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Services (use-cases)</a:t>
            </a:r>
            <a:r>
              <a:rPr sz="1050" b="0">
                <a:solidFill>
                  <a:srgbClr val="9AA3BC"/>
                </a:solidFill>
                <a:latin typeface="Calibri"/>
              </a:rPr>
              <a:t>   validate / balance / transfer / interest — pure plan_transfer()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4242816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517136"/>
            <a:ext cx="4846320" cy="786384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Repositories (all SQL)</a:t>
            </a:r>
            <a:r>
              <a:rPr sz="1050" b="0">
                <a:solidFill>
                  <a:srgbClr val="9AA3BC"/>
                </a:solidFill>
                <a:latin typeface="Calibri"/>
              </a:rPr>
              <a:t>   Repository pattern · row locks · atomic balance deltas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5230368"/>
            <a:ext cx="54864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5504688"/>
            <a:ext cx="4846320" cy="786384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PostgreSQL — database CTPBD</a:t>
            </a:r>
            <a:r>
              <a:rPr sz="1050" b="0">
                <a:solidFill>
                  <a:srgbClr val="9AA3BC"/>
                </a:solidFill>
                <a:latin typeface="Calibri"/>
              </a:rPr>
              <a:t>   constraints · indexes · one durable ledger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600200"/>
            <a:ext cx="5852160" cy="44805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F0B429"/>
                </a:solidFill>
                <a:latin typeface="Calibri"/>
              </a:rPr>
              <a:t>▸  Rule of the house:  </a:t>
            </a:r>
            <a:r>
              <a:rPr sz="1450" b="0">
                <a:solidFill>
                  <a:srgbClr val="E9EDF7"/>
                </a:solidFill>
                <a:latin typeface="Calibri"/>
              </a:rPr>
              <a:t>routes never write SQL; repositories never contain business rules; services never touch HTTP.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F0B429"/>
                </a:solidFill>
                <a:latin typeface="Calibri"/>
              </a:rPr>
              <a:t>▸  Design patterns used:  </a:t>
            </a:r>
            <a:r>
              <a:rPr sz="1450" b="0">
                <a:solidFill>
                  <a:srgbClr val="E9EDF7"/>
                </a:solidFill>
                <a:latin typeface="Calibri"/>
              </a:rPr>
              <a:t>Singleton (connection pool), Repository, Factory (account_from_row), Template Method (Account ABC), Decorator (login_required).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F0B429"/>
                </a:solidFill>
                <a:latin typeface="Calibri"/>
              </a:rPr>
              <a:t>▸  Dependency inversion:  </a:t>
            </a:r>
            <a:r>
              <a:rPr sz="1450" b="0">
                <a:solidFill>
                  <a:srgbClr val="E9EDF7"/>
                </a:solidFill>
                <a:latin typeface="Calibri"/>
              </a:rPr>
              <a:t>services receive the pool — the pure transfer planner needs no database at all, which is exactly why it is property-testable.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F0B429"/>
                </a:solidFill>
                <a:latin typeface="Calibri"/>
              </a:rPr>
              <a:t>▸  Why it matters:  </a:t>
            </a:r>
            <a:r>
              <a:rPr sz="1450" b="0">
                <a:solidFill>
                  <a:srgbClr val="E9EDF7"/>
                </a:solidFill>
                <a:latin typeface="Calibri"/>
              </a:rPr>
              <a:t>each layer can be reviewed, tested and defended independently in the viva.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584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04 · 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9EDF7"/>
                </a:solidFill>
                <a:latin typeface="Calibri"/>
              </a:rPr>
              <a:t>CTPBD — small schema, strong promises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C"/>
                </a:solidFill>
                <a:latin typeface="Calibri"/>
              </a:rPr>
              <a:t>CTPB Bank — Computational Thinking &amp; Programming   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F0B429"/>
                </a:solidFill>
                <a:latin typeface="Calibri"/>
              </a:rPr>
              <a:t>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657600" cy="338328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83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3657600" cy="502920"/>
          </a:xfrm>
          <a:prstGeom prst="roundRect">
            <a:avLst/>
          </a:prstGeom>
          <a:solidFill>
            <a:srgbClr val="142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39DFF"/>
                </a:solidFill>
                <a:latin typeface="Calibri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1792" y="2194560"/>
            <a:ext cx="2690446" cy="1782539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id  (PK, BIGSERIAL)</a:t>
            </a:r>
          </a:p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username  UNIQUE</a:t>
            </a:r>
          </a:p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</a:t>
            </a:r>
            <a:r>
              <a:rPr sz="1250" b="1" dirty="0" err="1">
                <a:solidFill>
                  <a:srgbClr val="E9EDF7"/>
                </a:solidFill>
                <a:latin typeface="Calibri"/>
              </a:rPr>
              <a:t>full_name</a:t>
            </a:r>
            <a:r>
              <a:rPr sz="1250" b="1" dirty="0">
                <a:solidFill>
                  <a:srgbClr val="E9EDF7"/>
                </a:solidFill>
                <a:latin typeface="Calibri"/>
              </a:rPr>
              <a:t> · email</a:t>
            </a:r>
          </a:p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</a:t>
            </a:r>
            <a:r>
              <a:rPr sz="1250" b="1" dirty="0" err="1">
                <a:solidFill>
                  <a:srgbClr val="E9EDF7"/>
                </a:solidFill>
                <a:latin typeface="Calibri"/>
              </a:rPr>
              <a:t>password_hash</a:t>
            </a:r>
            <a:r>
              <a:rPr sz="1250" b="1" dirty="0">
                <a:solidFill>
                  <a:srgbClr val="E9EDF7"/>
                </a:solidFill>
                <a:latin typeface="Calibri"/>
              </a:rPr>
              <a:t> (</a:t>
            </a:r>
            <a:r>
              <a:rPr sz="1250" b="1" dirty="0" err="1">
                <a:solidFill>
                  <a:srgbClr val="E9EDF7"/>
                </a:solidFill>
                <a:latin typeface="Calibri"/>
              </a:rPr>
              <a:t>scrypt</a:t>
            </a:r>
            <a:r>
              <a:rPr sz="1250" b="1" dirty="0">
                <a:solidFill>
                  <a:srgbClr val="E9EDF7"/>
                </a:solidFill>
                <a:latin typeface="Calibri"/>
              </a:rPr>
              <a:t>)</a:t>
            </a:r>
          </a:p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role: user | admin</a:t>
            </a: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9AA3BC"/>
                </a:solidFill>
                <a:latin typeface="Calibri"/>
              </a:rPr>
              <a:t>— </a:t>
            </a:r>
            <a:r>
              <a:rPr sz="1250" b="0" dirty="0" err="1">
                <a:solidFill>
                  <a:srgbClr val="9AA3BC"/>
                </a:solidFill>
                <a:latin typeface="Calibri"/>
              </a:rPr>
              <a:t>scrypt</a:t>
            </a:r>
            <a:r>
              <a:rPr sz="1250" b="0" dirty="0">
                <a:solidFill>
                  <a:srgbClr val="9AA3BC"/>
                </a:solidFill>
                <a:latin typeface="Calibri"/>
              </a:rPr>
              <a:t> hashing —</a:t>
            </a: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9AA3BC"/>
                </a:solidFill>
                <a:latin typeface="Calibri"/>
              </a:rPr>
              <a:t>— 5/5-min login limiter 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657600" cy="338328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657600" cy="502920"/>
          </a:xfrm>
          <a:prstGeom prst="roundRect">
            <a:avLst/>
          </a:prstGeom>
          <a:solidFill>
            <a:srgbClr val="142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0B429"/>
                </a:solidFill>
                <a:latin typeface="Calibri"/>
              </a:rPr>
              <a:t>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94560"/>
            <a:ext cx="2470638" cy="1782539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id  (PK)</a:t>
            </a:r>
          </a:p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</a:t>
            </a:r>
            <a:r>
              <a:rPr sz="1250" b="1" dirty="0" err="1">
                <a:solidFill>
                  <a:srgbClr val="E9EDF7"/>
                </a:solidFill>
                <a:latin typeface="Calibri"/>
              </a:rPr>
              <a:t>account_number</a:t>
            </a:r>
            <a:r>
              <a:rPr sz="1250" b="1" dirty="0">
                <a:solidFill>
                  <a:srgbClr val="E9EDF7"/>
                </a:solidFill>
                <a:latin typeface="Calibri"/>
              </a:rPr>
              <a:t> UNIQUE</a:t>
            </a:r>
          </a:p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type: savings | current</a:t>
            </a:r>
          </a:p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balance NUMERIC(14,2)</a:t>
            </a:r>
          </a:p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status: active | frozen</a:t>
            </a: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E9EDF7"/>
                </a:solidFill>
                <a:latin typeface="Calibri"/>
              </a:rPr>
              <a:t>UNIQUE(user, type)</a:t>
            </a: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E9EDF7"/>
                </a:solidFill>
                <a:latin typeface="Calibri"/>
              </a:rPr>
              <a:t>CHECK balance ≥ −50,000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54480"/>
            <a:ext cx="3657600" cy="338328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83879" y="1554480"/>
            <a:ext cx="3657600" cy="502920"/>
          </a:xfrm>
          <a:prstGeom prst="roundRect">
            <a:avLst/>
          </a:prstGeom>
          <a:solidFill>
            <a:srgbClr val="142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transactions (ledger)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9892" y="2194560"/>
            <a:ext cx="2347546" cy="1782539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</a:t>
            </a:r>
            <a:r>
              <a:rPr sz="1250" b="1" dirty="0" err="1">
                <a:solidFill>
                  <a:srgbClr val="E9EDF7"/>
                </a:solidFill>
                <a:latin typeface="Calibri"/>
              </a:rPr>
              <a:t>txn_ref</a:t>
            </a:r>
            <a:r>
              <a:rPr sz="1250" b="1" dirty="0">
                <a:solidFill>
                  <a:srgbClr val="E9EDF7"/>
                </a:solidFill>
                <a:latin typeface="Calibri"/>
              </a:rPr>
              <a:t> UNIQUE</a:t>
            </a:r>
          </a:p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</a:t>
            </a:r>
            <a:r>
              <a:rPr sz="1250" b="1" dirty="0" err="1">
                <a:solidFill>
                  <a:srgbClr val="E9EDF7"/>
                </a:solidFill>
                <a:latin typeface="Calibri"/>
              </a:rPr>
              <a:t>idempotency_key</a:t>
            </a:r>
            <a:r>
              <a:rPr sz="1250" b="1" dirty="0">
                <a:solidFill>
                  <a:srgbClr val="E9EDF7"/>
                </a:solidFill>
                <a:latin typeface="Calibri"/>
              </a:rPr>
              <a:t> UNIQUE</a:t>
            </a:r>
          </a:p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from → to · amount &gt; 0</a:t>
            </a:r>
          </a:p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type | status | note</a:t>
            </a:r>
          </a:p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</a:t>
            </a:r>
            <a:r>
              <a:rPr sz="1250" b="1" dirty="0" err="1">
                <a:solidFill>
                  <a:srgbClr val="E9EDF7"/>
                </a:solidFill>
                <a:latin typeface="Calibri"/>
              </a:rPr>
              <a:t>sender_balance_after</a:t>
            </a:r>
            <a:endParaRPr sz="1250" b="1" dirty="0">
              <a:solidFill>
                <a:srgbClr val="E9EDF7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E9EDF7"/>
                </a:solidFill>
                <a:latin typeface="Calibri"/>
              </a:rPr>
              <a:t>• </a:t>
            </a:r>
            <a:r>
              <a:rPr sz="1250" b="1" dirty="0" err="1">
                <a:solidFill>
                  <a:srgbClr val="E9EDF7"/>
                </a:solidFill>
                <a:latin typeface="Calibri"/>
              </a:rPr>
              <a:t>receiver_balance_after</a:t>
            </a:r>
            <a:endParaRPr sz="1250" b="1" dirty="0">
              <a:solidFill>
                <a:srgbClr val="E9EDF7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E9EDF7"/>
                </a:solidFill>
                <a:latin typeface="Calibri"/>
              </a:rPr>
              <a:t>partial index: flagged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166360"/>
            <a:ext cx="3657600" cy="457200"/>
          </a:xfrm>
          <a:prstGeom prst="roundRect">
            <a:avLst/>
          </a:prstGeom>
          <a:solidFill>
            <a:srgbClr val="10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1 savings + 1 current per customer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5166360"/>
            <a:ext cx="3657600" cy="457200"/>
          </a:xfrm>
          <a:prstGeom prst="roundRect">
            <a:avLst/>
          </a:prstGeom>
          <a:solidFill>
            <a:srgbClr val="10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9EDF7"/>
                </a:solidFill>
                <a:latin typeface="Calibri"/>
              </a:rPr>
              <a:t>double-entry: every move recorded twice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5166360"/>
            <a:ext cx="3520440" cy="457200"/>
          </a:xfrm>
          <a:prstGeom prst="roundRect">
            <a:avLst/>
          </a:prstGeom>
          <a:solidFill>
            <a:srgbClr val="10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replay-safe: idempotency is UNIQUE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05 · FEATURES (WHAT YOU ARE ABOUT TO SEE)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9EDF7"/>
                </a:solidFill>
                <a:latin typeface="Calibri"/>
              </a:rPr>
              <a:t>Two portals, one safe bank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C"/>
                </a:solidFill>
                <a:latin typeface="Calibri"/>
              </a:rPr>
              <a:t>CTPB Bank — Computational Thinking &amp; Programming   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F0B429"/>
                </a:solidFill>
                <a:latin typeface="Calibri"/>
              </a:rPr>
              <a:t>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486400" cy="402336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B429"/>
                </a:solidFill>
                <a:latin typeface="Calibri"/>
              </a:rPr>
              <a:t>👤  CUSTOMER PORTAL  (gold theme)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5029200" cy="32004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F0B429"/>
                </a:solidFill>
                <a:latin typeface="Calibri"/>
              </a:rPr>
              <a:t>▸  </a:t>
            </a:r>
            <a:r>
              <a:rPr sz="1300" b="0">
                <a:solidFill>
                  <a:srgbClr val="E9EDF7"/>
                </a:solidFill>
                <a:latin typeface="Calibri"/>
              </a:rPr>
              <a:t>Validate Account → payee name chip before sending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F0B429"/>
                </a:solidFill>
                <a:latin typeface="Calibri"/>
              </a:rPr>
              <a:t>▸  </a:t>
            </a:r>
            <a:r>
              <a:rPr sz="1300" b="0">
                <a:solidFill>
                  <a:srgbClr val="E9EDF7"/>
                </a:solidFill>
                <a:latin typeface="Calibri"/>
              </a:rPr>
              <a:t>Live balance cards · sparkline · in/out donut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F0B429"/>
                </a:solidFill>
                <a:latin typeface="Calibri"/>
              </a:rPr>
              <a:t>▸  </a:t>
            </a:r>
            <a:r>
              <a:rPr sz="1300" b="0">
                <a:solidFill>
                  <a:srgbClr val="E9EDF7"/>
                </a:solidFill>
                <a:latin typeface="Calibri"/>
              </a:rPr>
              <a:t>Transfer wizard with instant ATM note breakdown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F0B429"/>
                </a:solidFill>
                <a:latin typeface="Calibri"/>
              </a:rPr>
              <a:t>▸  </a:t>
            </a:r>
            <a:r>
              <a:rPr sz="1300" b="0">
                <a:solidFill>
                  <a:srgbClr val="E9EDF7"/>
                </a:solidFill>
                <a:latin typeface="Calibri"/>
              </a:rPr>
              <a:t>Savings + Current accounts side by side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F0B429"/>
                </a:solidFill>
                <a:latin typeface="Calibri"/>
              </a:rPr>
              <a:t>▸  </a:t>
            </a:r>
            <a:r>
              <a:rPr sz="1300" b="0">
                <a:solidFill>
                  <a:srgbClr val="E9EDF7"/>
                </a:solidFill>
                <a:latin typeface="Calibri"/>
              </a:rPr>
              <a:t>History: filters, pagination, timed merge sort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402336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🖥️  ADMIN CONSOLE  (teal theme)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5029200" cy="32004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▸  </a:t>
            </a:r>
            <a:r>
              <a:rPr sz="1300" b="0">
                <a:solidFill>
                  <a:srgbClr val="E9EDF7"/>
                </a:solidFill>
                <a:latin typeface="Calibri"/>
              </a:rPr>
              <a:t>Command centre: deposits, volume, 14-day chart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▸  </a:t>
            </a:r>
            <a:r>
              <a:rPr sz="1300" b="0">
                <a:solidFill>
                  <a:srgbClr val="E9EDF7"/>
                </a:solidFill>
                <a:latin typeface="Calibri"/>
              </a:rPr>
              <a:t>⚑ Flagged queue: large &amp; rapid transfers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▸  </a:t>
            </a:r>
            <a:r>
              <a:rPr sz="1300" b="0">
                <a:solidFill>
                  <a:srgbClr val="E9EDF7"/>
                </a:solidFill>
                <a:latin typeface="Calibri"/>
              </a:rPr>
              <a:t>Customers: create (both accounts), freeze/unfreeze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▸  </a:t>
            </a:r>
            <a:r>
              <a:rPr sz="1300" b="0">
                <a:solidFill>
                  <a:srgbClr val="E9EDF7"/>
                </a:solidFill>
                <a:latin typeface="Calibri"/>
              </a:rPr>
              <a:t>▶ One-click interest accrual — concurrent + idempotent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▸  </a:t>
            </a:r>
            <a:r>
              <a:rPr sz="1300" b="0">
                <a:solidFill>
                  <a:srgbClr val="E9EDF7"/>
                </a:solidFill>
                <a:latin typeface="Calibri"/>
              </a:rPr>
              <a:t>Full ledger view with audit trail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806440"/>
            <a:ext cx="3840480" cy="457200"/>
          </a:xfrm>
          <a:prstGeom prst="roundRect">
            <a:avLst/>
          </a:prstGeom>
          <a:solidFill>
            <a:srgbClr val="142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demo: aarav.sharma / User@123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5806440"/>
            <a:ext cx="3840480" cy="457200"/>
          </a:xfrm>
          <a:prstGeom prst="roundRect">
            <a:avLst/>
          </a:prstGeom>
          <a:solidFill>
            <a:srgbClr val="142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demo: admin / Admin@123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06 · ALGORITHMS &amp;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9EDF7"/>
                </a:solidFill>
                <a:latin typeface="Calibri"/>
              </a:rPr>
              <a:t>Real algorithms on real banking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C"/>
                </a:solidFill>
                <a:latin typeface="Calibri"/>
              </a:rPr>
              <a:t>CTPB Bank — Computational Thinking &amp; Programming   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F0B429"/>
                </a:solidFill>
                <a:latin typeface="Calibri"/>
              </a:rPr>
              <a:t>7 /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00200"/>
          <a:ext cx="75895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0B429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>
                    <a:solidFill>
                      <a:srgbClr val="1420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0B429"/>
                          </a:solidFill>
                          <a:latin typeface="Calibri"/>
                        </a:rPr>
                        <a:t>Where it runs</a:t>
                      </a:r>
                    </a:p>
                  </a:txBody>
                  <a:tcPr>
                    <a:solidFill>
                      <a:srgbClr val="1420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0B429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>
                    <a:solidFill>
                      <a:srgbClr val="1420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0B429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14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9EDF7"/>
                          </a:solidFill>
                          <a:latin typeface="Calibri"/>
                        </a:rPr>
                        <a:t>Merge sort (stable)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9EDF7"/>
                          </a:solidFill>
                          <a:latin typeface="Calibri"/>
                        </a:rPr>
                        <a:t>re-sorts transaction pages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9EDF7"/>
                          </a:solidFill>
                          <a:latin typeface="Calibri"/>
                        </a:rPr>
                        <a:t>divide &amp; conquer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D4BF"/>
                          </a:solidFill>
                          <a:latin typeface="Calibri"/>
                        </a:rPr>
                        <a:t>Θ(n log n)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9EDF7"/>
                          </a:solidFill>
                          <a:latin typeface="Calibri"/>
                        </a:rPr>
                        <a:t>Binary search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9EDF7"/>
                          </a:solidFill>
                          <a:latin typeface="Calibri"/>
                        </a:rPr>
                        <a:t>ledger lookups on sorted runs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9EDF7"/>
                          </a:solidFill>
                          <a:latin typeface="Calibri"/>
                        </a:rPr>
                        <a:t>divide &amp; conquer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D4BF"/>
                          </a:solidFill>
                          <a:latin typeface="Calibri"/>
                        </a:rPr>
                        <a:t>O(log n)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9EDF7"/>
                          </a:solidFill>
                          <a:latin typeface="Calibri"/>
                        </a:rPr>
                        <a:t>Greedy denominations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9EDF7"/>
                          </a:solidFill>
                          <a:latin typeface="Calibri"/>
                        </a:rPr>
                        <a:t>₹ note-breakdown widget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9EDF7"/>
                          </a:solidFill>
                          <a:latin typeface="Calibri"/>
                        </a:rPr>
                        <a:t>greedy (optimal: INR is canonical)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D4BF"/>
                          </a:solidFill>
                          <a:latin typeface="Calibri"/>
                        </a:rPr>
                        <a:t>O(k)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9EDF7"/>
                          </a:solidFill>
                          <a:latin typeface="Calibri"/>
                        </a:rPr>
                        <a:t>Sliding-window counter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9EDF7"/>
                          </a:solidFill>
                          <a:latin typeface="Calibri"/>
                        </a:rPr>
                        <a:t>fraud velocity check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9EDF7"/>
                          </a:solidFill>
                          <a:latin typeface="Calibri"/>
                        </a:rPr>
                        <a:t>early-exit scan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D4BF"/>
                          </a:solidFill>
                          <a:latin typeface="Calibri"/>
                        </a:rPr>
                        <a:t>O(k)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9EDF7"/>
                          </a:solidFill>
                          <a:latin typeface="Calibri"/>
                        </a:rPr>
                        <a:t>Top-K largest txns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9EDF7"/>
                          </a:solidFill>
                          <a:latin typeface="Calibri"/>
                        </a:rPr>
                        <a:t>admin console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9EDF7"/>
                          </a:solidFill>
                          <a:latin typeface="Calibri"/>
                        </a:rPr>
                        <a:t>sort + prefix (heap alt.)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D4BF"/>
                          </a:solidFill>
                          <a:latin typeface="Calibri"/>
                        </a:rPr>
                        <a:t>O(n log n)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9EDF7"/>
                          </a:solidFill>
                          <a:latin typeface="Calibri"/>
                        </a:rPr>
                        <a:t>Deque rate limiter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9EDF7"/>
                          </a:solidFill>
                          <a:latin typeface="Calibri"/>
                        </a:rPr>
                        <a:t>login throttling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9EDF7"/>
                          </a:solidFill>
                          <a:latin typeface="Calibri"/>
                        </a:rPr>
                        <a:t>sliding window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D4BF"/>
                          </a:solidFill>
                          <a:latin typeface="Calibri"/>
                        </a:rPr>
                        <a:t>O(1) amortised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9EDF7"/>
                          </a:solidFill>
                          <a:latin typeface="Calibri"/>
                        </a:rPr>
                        <a:t>B-tree indexes + pool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9EDF7"/>
                          </a:solidFill>
                          <a:latin typeface="Calibri"/>
                        </a:rPr>
                        <a:t>every hot query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9EDF7"/>
                          </a:solidFill>
                          <a:latin typeface="Calibri"/>
                        </a:rPr>
                        <a:t>access-path design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D4BF"/>
                          </a:solidFill>
                          <a:latin typeface="Calibri"/>
                        </a:rPr>
                        <a:t>O(log n) + O(1)</a:t>
                      </a:r>
                    </a:p>
                  </a:txBody>
                  <a:tcPr>
                    <a:solidFill>
                      <a:srgbClr val="101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66760" y="1737360"/>
            <a:ext cx="3383280" cy="4206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F0B429"/>
                </a:solidFill>
                <a:latin typeface="Calibri"/>
              </a:rPr>
              <a:t>▸  Why merge sort? </a:t>
            </a:r>
            <a:r>
              <a:rPr sz="1250" b="0">
                <a:solidFill>
                  <a:srgbClr val="E9EDF7"/>
                </a:solidFill>
                <a:latin typeface="Calibri"/>
              </a:rPr>
              <a:t>stable + Θ(n log n) guaranteed — safe on adversarial input.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F0B429"/>
                </a:solidFill>
                <a:latin typeface="Calibri"/>
              </a:rPr>
              <a:t>▸  Why greedy? </a:t>
            </a:r>
            <a:r>
              <a:rPr sz="1250" b="0">
                <a:solidFill>
                  <a:srgbClr val="E9EDF7"/>
                </a:solidFill>
                <a:latin typeface="Calibri"/>
              </a:rPr>
              <a:t>for INR notes greedy is provably optimal; arbitrary systems would need DP.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50" b="1">
                <a:solidFill>
                  <a:srgbClr val="F0B429"/>
                </a:solidFill>
                <a:latin typeface="Calibri"/>
              </a:rPr>
              <a:t>▸  Honestly measured: </a:t>
            </a:r>
            <a:r>
              <a:rPr sz="1250" b="0">
                <a:solidFill>
                  <a:srgbClr val="E9EDF7"/>
                </a:solidFill>
                <a:latin typeface="Calibri"/>
              </a:rPr>
              <a:t>the UI shows ⚡ merge sort · N µs per page — complexity made visible.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07 · SAFE TRANSFERS &amp; CONCURRENCY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9EDF7"/>
                </a:solidFill>
                <a:latin typeface="Calibri"/>
              </a:rPr>
              <a:t>₹500 leaves once, arrives once — always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C"/>
                </a:solidFill>
                <a:latin typeface="Calibri"/>
              </a:rPr>
              <a:t>CTPB Bank — Computational Thinking &amp; Programming   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F0B429"/>
                </a:solidFill>
                <a:latin typeface="Calibri"/>
              </a:rPr>
              <a:t>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2121408" cy="105156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9EDF7"/>
                </a:solidFill>
                <a:latin typeface="Calibri"/>
              </a:rPr>
              <a:t>Lock both rows
(ORDER BY 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201168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691640"/>
            <a:ext cx="2121408" cy="105156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9EDF7"/>
                </a:solidFill>
                <a:latin typeface="Calibri"/>
              </a:rPr>
              <a:t>Pure rule check
plan_transfer()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01168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691640"/>
            <a:ext cx="2121408" cy="105156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9EDF7"/>
                </a:solidFill>
                <a:latin typeface="Calibri"/>
              </a:rPr>
              <a:t>Risk score
velocity + amount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01168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691640"/>
            <a:ext cx="2121408" cy="105156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9EDF7"/>
                </a:solidFill>
                <a:latin typeface="Calibri"/>
              </a:rPr>
              <a:t>UPDATE −amount
UPDATE +amount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01168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0B429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1691640"/>
            <a:ext cx="2121408" cy="105156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9EDF7"/>
                </a:solidFill>
                <a:latin typeface="Calibri"/>
              </a:rPr>
              <a:t>Insert ledger row
commit — all or nothing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11064240" cy="31089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 Atomicity:  </a:t>
            </a:r>
            <a:r>
              <a:rPr sz="1400" b="0">
                <a:solidFill>
                  <a:srgbClr val="E9EDF7"/>
                </a:solidFill>
                <a:latin typeface="Calibri"/>
              </a:rPr>
              <a:t>one PostgreSQL transaction wraps both balance updates and the ledger insert — crash anywhere, change nothing.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 Deadlock-free:  </a:t>
            </a:r>
            <a:r>
              <a:rPr sz="1400" b="0">
                <a:solidFill>
                  <a:srgbClr val="E9EDF7"/>
                </a:solidFill>
                <a:latin typeface="Calibri"/>
              </a:rPr>
              <a:t>rows are locked in ascending id order (SELECT … FOR UPDATE), so concurrent transfers can never wait on each other.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 Idempotency:  </a:t>
            </a:r>
            <a:r>
              <a:rPr sz="1400" b="0">
                <a:solidFill>
                  <a:srgbClr val="E9EDF7"/>
                </a:solidFill>
                <a:latin typeface="Calibri"/>
              </a:rPr>
              <a:t>the client sends a UUID; a UNIQUE(database) constraint makes any retry return the ORIGINAL transaction — demoed live by double-clicking pay.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 Concurrency chosen sanely:  </a:t>
            </a:r>
            <a:r>
              <a:rPr sz="1400" b="0">
                <a:solidFill>
                  <a:srgbClr val="E9EDF7"/>
                </a:solidFill>
                <a:latin typeface="Calibri"/>
              </a:rPr>
              <a:t>threaded Flask + bounded connection pool (DB work is I/O-bound → GIL is not the bottleneck); the monthly interest job fans out over a ThreadPoolExecutor with per-account transactions.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0B429"/>
                </a:solidFill>
                <a:latin typeface="Calibri"/>
              </a:rPr>
              <a:t>08 · TESTING &amp; QUALITY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9EDF7"/>
                </a:solidFill>
                <a:latin typeface="Calibri"/>
              </a:rPr>
              <a:t>We didn't trust the code — we measured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C"/>
                </a:solidFill>
                <a:latin typeface="Calibri"/>
              </a:rPr>
              <a:t>CTPB Bank — Computational Thinking &amp; Programming   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F0B429"/>
                </a:solidFill>
                <a:latin typeface="Calibri"/>
              </a:rPr>
              <a:t>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697480" cy="137160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34D399"/>
                </a:solidFill>
                <a:latin typeface="Calibri"/>
              </a:rP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42032"/>
            <a:ext cx="269748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9AA3BC"/>
                </a:solidFill>
                <a:latin typeface="Calibri"/>
              </a:rPr>
              <a:t>TESTS 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00200"/>
            <a:ext cx="2697480" cy="137160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F0B429"/>
                </a:solidFill>
                <a:latin typeface="Calibri"/>
              </a:rPr>
              <a:t>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42032"/>
            <a:ext cx="269748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9AA3BC"/>
                </a:solidFill>
                <a:latin typeface="Calibri"/>
              </a:rPr>
              <a:t>LINE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697480" cy="137160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2DD4BF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542032"/>
            <a:ext cx="269748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9AA3BC"/>
                </a:solidFill>
                <a:latin typeface="Calibri"/>
              </a:rPr>
              <a:t>RUFF ISSUES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00200"/>
            <a:ext cx="2697480" cy="137160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83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839DFF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542032"/>
            <a:ext cx="269748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9AA3BC"/>
                </a:solidFill>
                <a:latin typeface="Calibri"/>
              </a:rPr>
              <a:t>MYPY ISSUES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11064240" cy="2651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 Property-based testing (Hypothesis):  </a:t>
            </a:r>
            <a:r>
              <a:rPr sz="1400" b="0">
                <a:solidFill>
                  <a:srgbClr val="E9EDF7"/>
                </a:solidFill>
                <a:latin typeface="Calibri"/>
              </a:rPr>
              <a:t>hundreds of random inputs prove money is conserved — total balance is identical before and after ANY transfer.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 Three layers of the pyramid:  </a:t>
            </a:r>
            <a:r>
              <a:rPr sz="1400" b="0">
                <a:solidFill>
                  <a:srgbClr val="E9EDF7"/>
                </a:solidFill>
                <a:latin typeface="Calibri"/>
              </a:rPr>
              <a:t>fast unit tests → live-PostgreSQL integration (real locks, real constraints) → Flask end-to-end journeys.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 Automated gates:  </a:t>
            </a:r>
            <a:r>
              <a:rPr sz="1400" b="0">
                <a:solidFill>
                  <a:srgbClr val="E9EDF7"/>
                </a:solidFill>
                <a:latin typeface="Calibri"/>
              </a:rPr>
              <a:t>GitHub Actions runs ruff → mypy → pytest (with a Postgres service) → coverage gate on every push.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F0B429"/>
                </a:solidFill>
                <a:latin typeface="Calibri"/>
              </a:rPr>
              <a:t>▸  Runs anywhere:  </a:t>
            </a:r>
            <a:r>
              <a:rPr sz="1400" b="0">
                <a:solidFill>
                  <a:srgbClr val="E9EDF7"/>
                </a:solidFill>
                <a:latin typeface="Calibri"/>
              </a:rPr>
              <a:t>docker compose up → app + PostgreSQL (CTPBD) from a single command.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09 · LIVE DEMO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9EDF7"/>
                </a:solidFill>
                <a:latin typeface="Calibri"/>
              </a:rPr>
              <a:t>Watch it work — then ask us anything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98448"/>
            <a:ext cx="21945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3BC"/>
                </a:solidFill>
                <a:latin typeface="Calibri"/>
              </a:rPr>
              <a:t>CTPB Bank — Computational Thinking &amp; Programming   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2DD4BF"/>
                </a:solidFill>
                <a:latin typeface="Calibri"/>
              </a:rPr>
              <a:t>10 / 10</a:t>
            </a:r>
          </a:p>
        </p:txBody>
      </p:sp>
      <p:pic>
        <p:nvPicPr>
          <p:cNvPr id="8" name="Picture 7" descr="admin-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00200"/>
            <a:ext cx="4114800" cy="22966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600200"/>
            <a:ext cx="6766560" cy="28346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9EDF7"/>
                </a:solidFill>
                <a:latin typeface="Calibri"/>
              </a:rPr>
              <a:t>1.  Login (aarav.sharma) → dashboard: balances, sparkline, charts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9EDF7"/>
                </a:solidFill>
                <a:latin typeface="Calibri"/>
              </a:rPr>
              <a:t>2.  Validate Priya's account → name chip appears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9EDF7"/>
                </a:solidFill>
                <a:latin typeface="Calibri"/>
              </a:rPr>
              <a:t>3.  Transfer ₹750 — hit pay twice: SAME reference (idempotent!)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9EDF7"/>
                </a:solidFill>
                <a:latin typeface="Calibri"/>
              </a:rPr>
              <a:t>4.  Four rapid transfers → 4th is ⚑ flagged (velocity rule)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9EDF7"/>
                </a:solidFill>
                <a:latin typeface="Calibri"/>
              </a:rPr>
              <a:t>5.  Sort history → note the ⚡ merge-sort microseconds chip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9EDF7"/>
                </a:solidFill>
                <a:latin typeface="Calibri"/>
              </a:rPr>
              <a:t>6.  Admin → run interest accrual twice → second run credits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572000"/>
            <a:ext cx="6903720" cy="1600200"/>
          </a:xfrm>
          <a:prstGeom prst="roundRect">
            <a:avLst/>
          </a:prstGeom>
          <a:solidFill>
            <a:srgbClr val="101A38"/>
          </a:solidFill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6492240" cy="1371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F0B429"/>
                </a:solidFill>
                <a:latin typeface="Calibri"/>
              </a:rPr>
              <a:t>▸  Takeaway:  </a:t>
            </a:r>
            <a:r>
              <a:rPr sz="1250" b="0">
                <a:solidFill>
                  <a:srgbClr val="E9EDF7"/>
                </a:solidFill>
                <a:latin typeface="Calibri"/>
              </a:rPr>
              <a:t>computational thinking turned 'a banking website' into provably-safe money movement.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>
                <a:solidFill>
                  <a:srgbClr val="F0B429"/>
                </a:solidFill>
                <a:latin typeface="Calibri"/>
              </a:rPr>
              <a:t>▸  Next steps:  </a:t>
            </a:r>
            <a:r>
              <a:rPr sz="1250" b="0">
                <a:solidFill>
                  <a:srgbClr val="E9EDF7"/>
                </a:solidFill>
                <a:latin typeface="Calibri"/>
              </a:rPr>
              <a:t>CSRF tokens + MFA · async scale-out · ML-based fraud scoring · UPI integration.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892040"/>
            <a:ext cx="4114800" cy="12801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0B429"/>
                </a:solidFill>
                <a:latin typeface="Calibri"/>
              </a:rPr>
              <a:t>Thank you!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3BC"/>
                </a:solidFill>
                <a:latin typeface="Calibri"/>
              </a:rPr>
              <a:t>Questions &amp; technical defence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2159</Words>
  <Application>Microsoft Office PowerPoint</Application>
  <PresentationFormat>Widescreen</PresentationFormat>
  <Paragraphs>206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MAJJI ROSHAN</dc:creator>
  <cp:keywords/>
  <dc:description>generated using python-pptx</dc:description>
  <cp:lastModifiedBy>MAJJI ROSHAN</cp:lastModifiedBy>
  <cp:revision>2</cp:revision>
  <dcterms:created xsi:type="dcterms:W3CDTF">2013-01-27T09:14:16Z</dcterms:created>
  <dcterms:modified xsi:type="dcterms:W3CDTF">2026-10-13T09:05:37Z</dcterms:modified>
  <cp:category/>
</cp:coreProperties>
</file>